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RoxboroughCF" charset="1" panose="00000500000000000000"/>
      <p:regular r:id="rId13"/>
    </p:embeddedFont>
    <p:embeddedFont>
      <p:font typeface="Montserrat" charset="1" panose="00000500000000000000"/>
      <p:regular r:id="rId14"/>
    </p:embeddedFont>
    <p:embeddedFont>
      <p:font typeface="Sorts Mill Goudy" charset="1" panose="02000503000000000000"/>
      <p:regular r:id="rId15"/>
    </p:embeddedFont>
    <p:embeddedFont>
      <p:font typeface="Roboto Bold" charset="1" panose="02000000000000000000"/>
      <p:regular r:id="rId16"/>
    </p:embeddedFont>
    <p:embeddedFont>
      <p:font typeface="DM Sans Bold" charset="1" panose="00000000000000000000"/>
      <p:regular r:id="rId17"/>
    </p:embeddedFont>
    <p:embeddedFont>
      <p:font typeface="DM Sans" charset="1" panose="00000000000000000000"/>
      <p:regular r:id="rId18"/>
    </p:embeddedFont>
    <p:embeddedFont>
      <p:font typeface="Inter Bold" charset="1" panose="020B0802030000000004"/>
      <p:regular r:id="rId19"/>
    </p:embeddedFont>
    <p:embeddedFont>
      <p:font typeface="Inter" charset="1" panose="020B0502030000000004"/>
      <p:regular r:id="rId20"/>
    </p:embeddedFont>
    <p:embeddedFont>
      <p:font typeface="Roboto" charset="1" panose="02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3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.png" Type="http://schemas.openxmlformats.org/officeDocument/2006/relationships/image"/><Relationship Id="rId4" Target="../media/image6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3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0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png" Type="http://schemas.openxmlformats.org/officeDocument/2006/relationships/image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Relationship Id="rId9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5330" y="7278194"/>
            <a:ext cx="1542230" cy="229572"/>
          </a:xfrm>
          <a:custGeom>
            <a:avLst/>
            <a:gdLst/>
            <a:ahLst/>
            <a:cxnLst/>
            <a:rect r="r" b="b" t="t" l="l"/>
            <a:pathLst>
              <a:path h="229572" w="1542230">
                <a:moveTo>
                  <a:pt x="0" y="0"/>
                </a:moveTo>
                <a:lnTo>
                  <a:pt x="1542230" y="0"/>
                </a:lnTo>
                <a:lnTo>
                  <a:pt x="154223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8686" y="304873"/>
            <a:ext cx="1207759" cy="938959"/>
          </a:xfrm>
          <a:custGeom>
            <a:avLst/>
            <a:gdLst/>
            <a:ahLst/>
            <a:cxnLst/>
            <a:rect r="r" b="b" t="t" l="l"/>
            <a:pathLst>
              <a:path h="938959" w="1207759">
                <a:moveTo>
                  <a:pt x="0" y="0"/>
                </a:moveTo>
                <a:lnTo>
                  <a:pt x="1207759" y="0"/>
                </a:lnTo>
                <a:lnTo>
                  <a:pt x="1207759" y="938960"/>
                </a:lnTo>
                <a:lnTo>
                  <a:pt x="0" y="9389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05393" y="7685254"/>
            <a:ext cx="1236304" cy="601505"/>
          </a:xfrm>
          <a:custGeom>
            <a:avLst/>
            <a:gdLst/>
            <a:ahLst/>
            <a:cxnLst/>
            <a:rect r="r" b="b" t="t" l="l"/>
            <a:pathLst>
              <a:path h="601505" w="1236304">
                <a:moveTo>
                  <a:pt x="0" y="0"/>
                </a:moveTo>
                <a:lnTo>
                  <a:pt x="1236303" y="0"/>
                </a:lnTo>
                <a:lnTo>
                  <a:pt x="1236303" y="601505"/>
                </a:lnTo>
                <a:lnTo>
                  <a:pt x="0" y="6015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57598" y="1903745"/>
            <a:ext cx="6570664" cy="1329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59"/>
              </a:lnSpc>
            </a:pPr>
            <a:r>
              <a:rPr lang="en-US" sz="9959" spc="-199">
                <a:solidFill>
                  <a:srgbClr val="3D3D3D"/>
                </a:solidFill>
                <a:latin typeface="RoxboroughCF"/>
                <a:ea typeface="RoxboroughCF"/>
                <a:cs typeface="RoxboroughCF"/>
                <a:sym typeface="RoxboroughCF"/>
              </a:rPr>
              <a:t>God’s Eye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5393" y="3376361"/>
            <a:ext cx="7149020" cy="142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1"/>
              </a:lnSpc>
            </a:pPr>
            <a:r>
              <a:rPr lang="en-US" sz="3151" spc="504">
                <a:solidFill>
                  <a:srgbClr val="6D6D6D"/>
                </a:solidFill>
                <a:latin typeface="Montserrat"/>
                <a:ea typeface="Montserrat"/>
                <a:cs typeface="Montserrat"/>
                <a:sym typeface="Montserrat"/>
              </a:rPr>
              <a:t>GESTÃO INTELIGENTE</a:t>
            </a:r>
          </a:p>
          <a:p>
            <a:pPr algn="l">
              <a:lnSpc>
                <a:spcPts val="3781"/>
              </a:lnSpc>
            </a:pPr>
            <a:r>
              <a:rPr lang="en-US" sz="3151" spc="504">
                <a:solidFill>
                  <a:srgbClr val="6D6D6D"/>
                </a:solidFill>
                <a:latin typeface="Montserrat"/>
                <a:ea typeface="Montserrat"/>
                <a:cs typeface="Montserrat"/>
                <a:sym typeface="Montserrat"/>
              </a:rPr>
              <a:t>DE MÁQUINAS DE VENDING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6883" y="8426148"/>
            <a:ext cx="3913264" cy="1506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193">
                <a:solidFill>
                  <a:srgbClr val="6D6D6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Luí</a:t>
            </a:r>
            <a:r>
              <a:rPr lang="en-US" sz="2193">
                <a:solidFill>
                  <a:srgbClr val="6D6D6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 Oliveira [125016], </a:t>
            </a:r>
          </a:p>
          <a:p>
            <a:pPr algn="l">
              <a:lnSpc>
                <a:spcPts val="3071"/>
              </a:lnSpc>
            </a:pPr>
            <a:r>
              <a:rPr lang="en-US" sz="2193">
                <a:solidFill>
                  <a:srgbClr val="6D6D6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Tomás Cardoso [125050], Margarida Teixeira [126011] , Jéssica Zheng [126541]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1331560" cy="10287000"/>
          </a:xfrm>
          <a:custGeom>
            <a:avLst/>
            <a:gdLst/>
            <a:ahLst/>
            <a:cxnLst/>
            <a:rect r="r" b="b" t="t" l="l"/>
            <a:pathLst>
              <a:path h="10287000" w="11331560">
                <a:moveTo>
                  <a:pt x="0" y="0"/>
                </a:moveTo>
                <a:lnTo>
                  <a:pt x="11331560" y="0"/>
                </a:lnTo>
                <a:lnTo>
                  <a:pt x="1133156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36802" y="1291458"/>
            <a:ext cx="13938260" cy="857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7"/>
              </a:lnSpc>
            </a:pPr>
            <a:r>
              <a:rPr lang="en-US" b="true" sz="6000" spc="-120">
                <a:solidFill>
                  <a:srgbClr val="071B3F"/>
                </a:solidFill>
                <a:latin typeface="Roboto Bold"/>
                <a:ea typeface="Roboto Bold"/>
                <a:cs typeface="Roboto Bold"/>
                <a:sym typeface="Roboto Bold"/>
              </a:rPr>
              <a:t>PROBLEMA E OPORTUNIDADE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2564" y="3203279"/>
            <a:ext cx="16506736" cy="6541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75"/>
              </a:lnSpc>
            </a:pPr>
            <a:r>
              <a:rPr lang="en-US" b="true" sz="2654" spc="-53">
                <a:solidFill>
                  <a:srgbClr val="071B3F"/>
                </a:solidFill>
                <a:latin typeface="DM Sans Bold"/>
                <a:ea typeface="DM Sans Bold"/>
                <a:cs typeface="DM Sans Bold"/>
                <a:sym typeface="DM Sans Bold"/>
              </a:rPr>
              <a:t>Promotor</a:t>
            </a:r>
            <a:r>
              <a:rPr lang="en-US" sz="2654" spc="-53">
                <a:solidFill>
                  <a:srgbClr val="071B3F"/>
                </a:solidFill>
                <a:latin typeface="DM Sans"/>
                <a:ea typeface="DM Sans"/>
                <a:cs typeface="DM Sans"/>
                <a:sym typeface="DM Sans"/>
              </a:rPr>
              <a:t>:  DPVending</a:t>
            </a:r>
          </a:p>
          <a:p>
            <a:pPr algn="just">
              <a:lnSpc>
                <a:spcPts val="4775"/>
              </a:lnSpc>
            </a:pPr>
            <a:r>
              <a:rPr lang="en-US" b="true" sz="2654" spc="-53">
                <a:solidFill>
                  <a:srgbClr val="071B3F"/>
                </a:solidFill>
                <a:latin typeface="DM Sans Bold"/>
                <a:ea typeface="DM Sans Bold"/>
                <a:cs typeface="DM Sans Bold"/>
                <a:sym typeface="DM Sans Bold"/>
              </a:rPr>
              <a:t>Problema identificado</a:t>
            </a:r>
            <a:r>
              <a:rPr lang="en-US" sz="2654" spc="-53">
                <a:solidFill>
                  <a:srgbClr val="071B3F"/>
                </a:solidFill>
                <a:latin typeface="DM Sans"/>
                <a:ea typeface="DM Sans"/>
                <a:cs typeface="DM Sans"/>
                <a:sym typeface="DM Sans"/>
              </a:rPr>
              <a:t>:  </a:t>
            </a:r>
            <a:r>
              <a:rPr lang="en-US" sz="2654" spc="-53">
                <a:solidFill>
                  <a:srgbClr val="071B3F"/>
                </a:solidFill>
                <a:latin typeface="DM Sans"/>
                <a:ea typeface="DM Sans"/>
                <a:cs typeface="DM Sans"/>
                <a:sym typeface="DM Sans"/>
              </a:rPr>
              <a:t>Gestão manual das máquinas é ineficiente</a:t>
            </a:r>
          </a:p>
          <a:p>
            <a:pPr algn="just">
              <a:lnSpc>
                <a:spcPts val="4777"/>
              </a:lnSpc>
            </a:pPr>
            <a:r>
              <a:rPr lang="en-US" b="true" sz="2654" spc="-53">
                <a:solidFill>
                  <a:srgbClr val="071B3F"/>
                </a:solidFill>
                <a:latin typeface="DM Sans Bold"/>
                <a:ea typeface="DM Sans Bold"/>
                <a:cs typeface="DM Sans Bold"/>
                <a:sym typeface="DM Sans Bold"/>
              </a:rPr>
              <a:t>Principais dificuldades</a:t>
            </a:r>
            <a:r>
              <a:rPr lang="en-US" sz="2654" spc="-53">
                <a:solidFill>
                  <a:srgbClr val="071B3F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</a:p>
          <a:p>
            <a:pPr algn="just" marL="573062" indent="-286531" lvl="1">
              <a:lnSpc>
                <a:spcPts val="4777"/>
              </a:lnSpc>
              <a:buFont typeface="Arial"/>
              <a:buChar char="•"/>
            </a:pPr>
            <a:r>
              <a:rPr lang="en-US" sz="2654" spc="-53">
                <a:solidFill>
                  <a:srgbClr val="071B3F"/>
                </a:solidFill>
                <a:latin typeface="DM Sans"/>
                <a:ea typeface="DM Sans"/>
                <a:cs typeface="DM Sans"/>
                <a:sym typeface="DM Sans"/>
              </a:rPr>
              <a:t>Sem monitorização remota e em tempo real</a:t>
            </a:r>
          </a:p>
          <a:p>
            <a:pPr algn="just" marL="573062" indent="-286531" lvl="1">
              <a:lnSpc>
                <a:spcPts val="4777"/>
              </a:lnSpc>
              <a:buFont typeface="Arial"/>
              <a:buChar char="•"/>
            </a:pPr>
            <a:r>
              <a:rPr lang="en-US" sz="2654" spc="-53">
                <a:solidFill>
                  <a:srgbClr val="071B3F"/>
                </a:solidFill>
                <a:latin typeface="DM Sans"/>
                <a:ea typeface="DM Sans"/>
                <a:cs typeface="DM Sans"/>
                <a:sym typeface="DM Sans"/>
              </a:rPr>
              <a:t>Funcionários deslocam-se para verificações físicas</a:t>
            </a:r>
          </a:p>
          <a:p>
            <a:pPr algn="just" marL="573062" indent="-286531" lvl="1">
              <a:lnSpc>
                <a:spcPts val="4777"/>
              </a:lnSpc>
              <a:buFont typeface="Arial"/>
              <a:buChar char="•"/>
            </a:pPr>
            <a:r>
              <a:rPr lang="en-US" sz="2654" spc="-53">
                <a:solidFill>
                  <a:srgbClr val="071B3F"/>
                </a:solidFill>
                <a:latin typeface="DM Sans"/>
                <a:ea typeface="DM Sans"/>
                <a:cs typeface="DM Sans"/>
                <a:sym typeface="DM Sans"/>
              </a:rPr>
              <a:t>Coordenação pouco automatizada entre parceiros</a:t>
            </a:r>
          </a:p>
          <a:p>
            <a:pPr algn="just" marL="573062" indent="-286531" lvl="1">
              <a:lnSpc>
                <a:spcPts val="4775"/>
              </a:lnSpc>
              <a:buFont typeface="Arial"/>
              <a:buChar char="•"/>
            </a:pPr>
            <a:r>
              <a:rPr lang="en-US" sz="2654" spc="-53">
                <a:solidFill>
                  <a:srgbClr val="071B3F"/>
                </a:solidFill>
                <a:latin typeface="DM Sans"/>
                <a:ea typeface="DM Sans"/>
                <a:cs typeface="DM Sans"/>
                <a:sym typeface="DM Sans"/>
              </a:rPr>
              <a:t>Clientes contactam diretamente para reposição</a:t>
            </a:r>
          </a:p>
          <a:p>
            <a:pPr algn="just">
              <a:lnSpc>
                <a:spcPts val="4775"/>
              </a:lnSpc>
            </a:pPr>
            <a:r>
              <a:rPr lang="en-US" b="true" sz="2654" spc="-53">
                <a:solidFill>
                  <a:srgbClr val="071B3F"/>
                </a:solidFill>
                <a:latin typeface="DM Sans Bold"/>
                <a:ea typeface="DM Sans Bold"/>
                <a:cs typeface="DM Sans Bold"/>
                <a:sym typeface="DM Sans Bold"/>
              </a:rPr>
              <a:t>Necessidade/Oportunidade</a:t>
            </a:r>
            <a:r>
              <a:rPr lang="en-US" sz="2654" spc="-53">
                <a:solidFill>
                  <a:srgbClr val="071B3F"/>
                </a:solidFill>
                <a:latin typeface="DM Sans"/>
                <a:ea typeface="DM Sans"/>
                <a:cs typeface="DM Sans"/>
                <a:sym typeface="DM Sans"/>
              </a:rPr>
              <a:t>:  Digitalizar e automatizar os processos para tornar a gestão mais eficiente</a:t>
            </a:r>
          </a:p>
          <a:p>
            <a:pPr algn="just">
              <a:lnSpc>
                <a:spcPts val="4775"/>
              </a:lnSpc>
            </a:pPr>
            <a:r>
              <a:rPr lang="en-US" b="true" sz="2654" spc="-53">
                <a:solidFill>
                  <a:srgbClr val="071B3F"/>
                </a:solidFill>
                <a:latin typeface="DM Sans Bold"/>
                <a:ea typeface="DM Sans Bold"/>
                <a:cs typeface="DM Sans Bold"/>
                <a:sym typeface="DM Sans Bold"/>
              </a:rPr>
              <a:t>Impacto de não resolver o problema</a:t>
            </a:r>
            <a:r>
              <a:rPr lang="en-US" sz="2654" spc="-53">
                <a:solidFill>
                  <a:srgbClr val="071B3F"/>
                </a:solidFill>
                <a:latin typeface="DM Sans"/>
                <a:ea typeface="DM Sans"/>
                <a:cs typeface="DM Sans"/>
                <a:sym typeface="DM Sans"/>
              </a:rPr>
              <a:t>:  Atrasos nas reposições; Deslocações desnecessárias; Custos operacionais mais elevados; Desperdício de produtos; Dificuldade em expandir o negócio</a:t>
            </a:r>
          </a:p>
          <a:p>
            <a:pPr algn="l">
              <a:lnSpc>
                <a:spcPts val="4777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08686" y="304873"/>
            <a:ext cx="1207759" cy="938959"/>
          </a:xfrm>
          <a:custGeom>
            <a:avLst/>
            <a:gdLst/>
            <a:ahLst/>
            <a:cxnLst/>
            <a:rect r="r" b="b" t="t" l="l"/>
            <a:pathLst>
              <a:path h="938959" w="1207759">
                <a:moveTo>
                  <a:pt x="0" y="0"/>
                </a:moveTo>
                <a:lnTo>
                  <a:pt x="1207759" y="0"/>
                </a:lnTo>
                <a:lnTo>
                  <a:pt x="1207759" y="938960"/>
                </a:lnTo>
                <a:lnTo>
                  <a:pt x="0" y="9389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52564" y="2596201"/>
            <a:ext cx="1531292" cy="437279"/>
          </a:xfrm>
          <a:custGeom>
            <a:avLst/>
            <a:gdLst/>
            <a:ahLst/>
            <a:cxnLst/>
            <a:rect r="r" b="b" t="t" l="l"/>
            <a:pathLst>
              <a:path h="437279" w="1531292">
                <a:moveTo>
                  <a:pt x="0" y="0"/>
                </a:moveTo>
                <a:lnTo>
                  <a:pt x="1531292" y="0"/>
                </a:lnTo>
                <a:lnTo>
                  <a:pt x="153129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8686" y="304873"/>
            <a:ext cx="1207759" cy="938959"/>
          </a:xfrm>
          <a:custGeom>
            <a:avLst/>
            <a:gdLst/>
            <a:ahLst/>
            <a:cxnLst/>
            <a:rect r="r" b="b" t="t" l="l"/>
            <a:pathLst>
              <a:path h="938959" w="1207759">
                <a:moveTo>
                  <a:pt x="0" y="0"/>
                </a:moveTo>
                <a:lnTo>
                  <a:pt x="1207759" y="0"/>
                </a:lnTo>
                <a:lnTo>
                  <a:pt x="1207759" y="938960"/>
                </a:lnTo>
                <a:lnTo>
                  <a:pt x="0" y="9389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52564" y="2596201"/>
            <a:ext cx="1531292" cy="437279"/>
          </a:xfrm>
          <a:custGeom>
            <a:avLst/>
            <a:gdLst/>
            <a:ahLst/>
            <a:cxnLst/>
            <a:rect r="r" b="b" t="t" l="l"/>
            <a:pathLst>
              <a:path h="437279" w="1531292">
                <a:moveTo>
                  <a:pt x="0" y="0"/>
                </a:moveTo>
                <a:lnTo>
                  <a:pt x="1531292" y="0"/>
                </a:lnTo>
                <a:lnTo>
                  <a:pt x="153129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666237" y="3259744"/>
            <a:ext cx="10955525" cy="6483882"/>
          </a:xfrm>
          <a:custGeom>
            <a:avLst/>
            <a:gdLst/>
            <a:ahLst/>
            <a:cxnLst/>
            <a:rect r="r" b="b" t="t" l="l"/>
            <a:pathLst>
              <a:path h="6483882" w="10955525">
                <a:moveTo>
                  <a:pt x="0" y="0"/>
                </a:moveTo>
                <a:lnTo>
                  <a:pt x="10955526" y="0"/>
                </a:lnTo>
                <a:lnTo>
                  <a:pt x="10955526" y="6483883"/>
                </a:lnTo>
                <a:lnTo>
                  <a:pt x="0" y="64838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64609" y="1300983"/>
            <a:ext cx="13958783" cy="853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b="true" sz="6000">
                <a:solidFill>
                  <a:srgbClr val="082043"/>
                </a:solidFill>
                <a:latin typeface="Roboto Bold"/>
                <a:ea typeface="Roboto Bold"/>
                <a:cs typeface="Roboto Bold"/>
                <a:sym typeface="Roboto Bold"/>
              </a:rPr>
              <a:t>STAKEHOLDERS E UTILIZADORES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74399" y="1253358"/>
            <a:ext cx="15339202" cy="904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02"/>
              </a:lnSpc>
            </a:pPr>
            <a:r>
              <a:rPr lang="en-US" b="true" sz="6000" spc="-120">
                <a:solidFill>
                  <a:srgbClr val="081C3F"/>
                </a:solidFill>
                <a:latin typeface="Roboto Bold"/>
                <a:ea typeface="Roboto Bold"/>
                <a:cs typeface="Roboto Bold"/>
                <a:sym typeface="Roboto Bold"/>
              </a:rPr>
              <a:t>SOLUÇÃO PROPOSTA E FUNCIONALIDADES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08686" y="304873"/>
            <a:ext cx="1207759" cy="938959"/>
          </a:xfrm>
          <a:custGeom>
            <a:avLst/>
            <a:gdLst/>
            <a:ahLst/>
            <a:cxnLst/>
            <a:rect r="r" b="b" t="t" l="l"/>
            <a:pathLst>
              <a:path h="938959" w="1207759">
                <a:moveTo>
                  <a:pt x="0" y="0"/>
                </a:moveTo>
                <a:lnTo>
                  <a:pt x="1207759" y="0"/>
                </a:lnTo>
                <a:lnTo>
                  <a:pt x="1207759" y="938960"/>
                </a:lnTo>
                <a:lnTo>
                  <a:pt x="0" y="9389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52564" y="3395431"/>
            <a:ext cx="16418642" cy="5036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37"/>
              </a:lnSpc>
            </a:pPr>
            <a:r>
              <a:rPr lang="en-US" b="true" sz="2784" spc="-55">
                <a:solidFill>
                  <a:srgbClr val="082043"/>
                </a:solidFill>
                <a:latin typeface="Inter Bold"/>
                <a:ea typeface="Inter Bold"/>
                <a:cs typeface="Inter Bold"/>
                <a:sym typeface="Inter Bold"/>
              </a:rPr>
              <a:t>GOD’S EYE - </a:t>
            </a:r>
            <a:r>
              <a:rPr lang="en-US" sz="2784" spc="-55">
                <a:solidFill>
                  <a:srgbClr val="082043"/>
                </a:solidFill>
                <a:latin typeface="Inter"/>
                <a:ea typeface="Inter"/>
                <a:cs typeface="Inter"/>
                <a:sym typeface="Inter"/>
              </a:rPr>
              <a:t>Uma plataforma inteligente para monitorizar, gerir e otimizar toda a sua rede de máquinas</a:t>
            </a:r>
          </a:p>
          <a:p>
            <a:pPr algn="just">
              <a:lnSpc>
                <a:spcPts val="4037"/>
              </a:lnSpc>
            </a:pPr>
          </a:p>
          <a:p>
            <a:pPr algn="just" marL="601147" indent="-300573" lvl="1">
              <a:lnSpc>
                <a:spcPts val="4037"/>
              </a:lnSpc>
              <a:buFont typeface="Arial"/>
              <a:buChar char="•"/>
            </a:pPr>
            <a:r>
              <a:rPr lang="en-US" sz="2784" spc="-55">
                <a:solidFill>
                  <a:srgbClr val="082043"/>
                </a:solidFill>
                <a:latin typeface="Inter"/>
                <a:ea typeface="Inter"/>
                <a:cs typeface="Inter"/>
                <a:sym typeface="Inter"/>
              </a:rPr>
              <a:t>Gêm</a:t>
            </a:r>
            <a:r>
              <a:rPr lang="en-US" sz="2784" spc="-55">
                <a:solidFill>
                  <a:srgbClr val="082043"/>
                </a:solidFill>
                <a:latin typeface="Inter"/>
                <a:ea typeface="Inter"/>
                <a:cs typeface="Inter"/>
                <a:sym typeface="Inter"/>
              </a:rPr>
              <a:t>eos digitais para cada máquina e rede</a:t>
            </a:r>
          </a:p>
          <a:p>
            <a:pPr algn="just" marL="601147" indent="-300573" lvl="1">
              <a:lnSpc>
                <a:spcPts val="4037"/>
              </a:lnSpc>
              <a:buFont typeface="Arial"/>
              <a:buChar char="•"/>
            </a:pPr>
            <a:r>
              <a:rPr lang="en-US" sz="2784" spc="-55">
                <a:solidFill>
                  <a:srgbClr val="082043"/>
                </a:solidFill>
                <a:latin typeface="Inter"/>
                <a:ea typeface="Inter"/>
                <a:cs typeface="Inter"/>
                <a:sym typeface="Inter"/>
              </a:rPr>
              <a:t>Sensores IoT: stock, validades, temperatura, falhas</a:t>
            </a:r>
          </a:p>
          <a:p>
            <a:pPr algn="just" marL="601147" indent="-300573" lvl="1">
              <a:lnSpc>
                <a:spcPts val="4037"/>
              </a:lnSpc>
              <a:buFont typeface="Arial"/>
              <a:buChar char="•"/>
            </a:pPr>
            <a:r>
              <a:rPr lang="en-US" sz="2784" spc="-55">
                <a:solidFill>
                  <a:srgbClr val="082043"/>
                </a:solidFill>
                <a:latin typeface="Inter"/>
                <a:ea typeface="Inter"/>
                <a:cs typeface="Inter"/>
                <a:sym typeface="Inter"/>
              </a:rPr>
              <a:t>Gestão de stocks e alertas automáticos</a:t>
            </a:r>
          </a:p>
          <a:p>
            <a:pPr algn="just" marL="601147" indent="-300573" lvl="1">
              <a:lnSpc>
                <a:spcPts val="4037"/>
              </a:lnSpc>
              <a:buFont typeface="Arial"/>
              <a:buChar char="•"/>
            </a:pPr>
            <a:r>
              <a:rPr lang="en-US" sz="2784" spc="-55">
                <a:solidFill>
                  <a:srgbClr val="082043"/>
                </a:solidFill>
                <a:latin typeface="Inter"/>
                <a:ea typeface="Inter"/>
                <a:cs typeface="Inter"/>
                <a:sym typeface="Inter"/>
              </a:rPr>
              <a:t>Otimização de rotas </a:t>
            </a:r>
          </a:p>
          <a:p>
            <a:pPr algn="just" marL="601147" indent="-300573" lvl="1">
              <a:lnSpc>
                <a:spcPts val="4037"/>
              </a:lnSpc>
              <a:buFont typeface="Arial"/>
              <a:buChar char="•"/>
            </a:pPr>
            <a:r>
              <a:rPr lang="en-US" sz="2784" spc="-55">
                <a:solidFill>
                  <a:srgbClr val="082043"/>
                </a:solidFill>
                <a:latin typeface="Inter"/>
                <a:ea typeface="Inter"/>
                <a:cs typeface="Inter"/>
                <a:sym typeface="Inter"/>
              </a:rPr>
              <a:t>Integração de parceiros e fornecedores</a:t>
            </a:r>
          </a:p>
          <a:p>
            <a:pPr algn="just" marL="601147" indent="-300573" lvl="1">
              <a:lnSpc>
                <a:spcPts val="4037"/>
              </a:lnSpc>
              <a:buFont typeface="Arial"/>
              <a:buChar char="•"/>
            </a:pPr>
            <a:r>
              <a:rPr lang="en-US" sz="2784" spc="-55">
                <a:solidFill>
                  <a:srgbClr val="082043"/>
                </a:solidFill>
                <a:latin typeface="Inter"/>
                <a:ea typeface="Inter"/>
                <a:cs typeface="Inter"/>
                <a:sym typeface="Inter"/>
              </a:rPr>
              <a:t>Interface para clientes </a:t>
            </a:r>
          </a:p>
          <a:p>
            <a:pPr algn="l">
              <a:lnSpc>
                <a:spcPts val="4037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752564" y="2596201"/>
            <a:ext cx="1531292" cy="437279"/>
          </a:xfrm>
          <a:custGeom>
            <a:avLst/>
            <a:gdLst/>
            <a:ahLst/>
            <a:cxnLst/>
            <a:rect r="r" b="b" t="t" l="l"/>
            <a:pathLst>
              <a:path h="437279" w="1531292">
                <a:moveTo>
                  <a:pt x="0" y="0"/>
                </a:moveTo>
                <a:lnTo>
                  <a:pt x="1531292" y="0"/>
                </a:lnTo>
                <a:lnTo>
                  <a:pt x="153129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414402" cy="10287000"/>
          </a:xfrm>
          <a:custGeom>
            <a:avLst/>
            <a:gdLst/>
            <a:ahLst/>
            <a:cxnLst/>
            <a:rect r="r" b="b" t="t" l="l"/>
            <a:pathLst>
              <a:path h="10287000" w="12414402">
                <a:moveTo>
                  <a:pt x="0" y="0"/>
                </a:moveTo>
                <a:lnTo>
                  <a:pt x="12414402" y="0"/>
                </a:lnTo>
                <a:lnTo>
                  <a:pt x="1241440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67069" y="1253358"/>
            <a:ext cx="15553863" cy="904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02"/>
              </a:lnSpc>
            </a:pPr>
            <a:r>
              <a:rPr lang="en-US" b="true" sz="6000" spc="-120">
                <a:solidFill>
                  <a:srgbClr val="081837"/>
                </a:solidFill>
                <a:latin typeface="Roboto Bold"/>
                <a:ea typeface="Roboto Bold"/>
                <a:cs typeface="Roboto Bold"/>
                <a:sym typeface="Roboto Bold"/>
              </a:rPr>
              <a:t>POSICIONAMENTO E PROPOSTA DE VALOR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08686" y="304873"/>
            <a:ext cx="1207759" cy="938959"/>
          </a:xfrm>
          <a:custGeom>
            <a:avLst/>
            <a:gdLst/>
            <a:ahLst/>
            <a:cxnLst/>
            <a:rect r="r" b="b" t="t" l="l"/>
            <a:pathLst>
              <a:path h="938959" w="1207759">
                <a:moveTo>
                  <a:pt x="0" y="0"/>
                </a:moveTo>
                <a:lnTo>
                  <a:pt x="1207759" y="0"/>
                </a:lnTo>
                <a:lnTo>
                  <a:pt x="1207759" y="938960"/>
                </a:lnTo>
                <a:lnTo>
                  <a:pt x="0" y="9389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52564" y="3395431"/>
            <a:ext cx="16418642" cy="4026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37"/>
              </a:lnSpc>
            </a:pPr>
            <a:r>
              <a:rPr lang="en-US" b="true" sz="2784" spc="-55">
                <a:solidFill>
                  <a:srgbClr val="082043"/>
                </a:solidFill>
                <a:latin typeface="Inter Bold"/>
                <a:ea typeface="Inter Bold"/>
                <a:cs typeface="Inter Bold"/>
                <a:sym typeface="Inter Bold"/>
              </a:rPr>
              <a:t>Alternativas atuais:  </a:t>
            </a:r>
            <a:r>
              <a:rPr lang="en-US" sz="2784" spc="-55">
                <a:solidFill>
                  <a:srgbClr val="082043"/>
                </a:solidFill>
                <a:latin typeface="Inter"/>
                <a:ea typeface="Inter"/>
                <a:cs typeface="Inter"/>
                <a:sym typeface="Inter"/>
              </a:rPr>
              <a:t>Verificações presenciais, rotas fixas, registos manuais e pedidos de reposição após pedido do cliente</a:t>
            </a:r>
          </a:p>
          <a:p>
            <a:pPr algn="just">
              <a:lnSpc>
                <a:spcPts val="4037"/>
              </a:lnSpc>
            </a:pPr>
          </a:p>
          <a:p>
            <a:pPr algn="just">
              <a:lnSpc>
                <a:spcPts val="4037"/>
              </a:lnSpc>
            </a:pPr>
            <a:r>
              <a:rPr lang="en-US" b="true" sz="2784" spc="-55">
                <a:solidFill>
                  <a:srgbClr val="082043"/>
                </a:solidFill>
                <a:latin typeface="Inter Bold"/>
                <a:ea typeface="Inter Bold"/>
                <a:cs typeface="Inter Bold"/>
                <a:sym typeface="Inter Bold"/>
              </a:rPr>
              <a:t>O que distingue o GOD’S EYE?</a:t>
            </a:r>
            <a:r>
              <a:rPr lang="en-US" sz="2784" spc="-55">
                <a:solidFill>
                  <a:srgbClr val="082043"/>
                </a:solidFill>
                <a:latin typeface="Inter"/>
                <a:ea typeface="Inter"/>
                <a:cs typeface="Inter"/>
                <a:sym typeface="Inter"/>
              </a:rPr>
              <a:t> Permite uma monitorização centralizada  e sempre atualizada</a:t>
            </a:r>
          </a:p>
          <a:p>
            <a:pPr algn="just">
              <a:lnSpc>
                <a:spcPts val="4037"/>
              </a:lnSpc>
            </a:pPr>
          </a:p>
          <a:p>
            <a:pPr algn="just">
              <a:lnSpc>
                <a:spcPts val="4037"/>
              </a:lnSpc>
            </a:pPr>
            <a:r>
              <a:rPr lang="en-US" b="true" sz="2784" spc="-55">
                <a:solidFill>
                  <a:srgbClr val="082043"/>
                </a:solidFill>
                <a:latin typeface="Inter Bold"/>
                <a:ea typeface="Inter Bold"/>
                <a:cs typeface="Inter Bold"/>
                <a:sym typeface="Inter Bold"/>
              </a:rPr>
              <a:t>Proposta de valor: </a:t>
            </a:r>
            <a:r>
              <a:rPr lang="en-US" sz="2784" spc="-55">
                <a:solidFill>
                  <a:srgbClr val="082043"/>
                </a:solidFill>
                <a:latin typeface="Inter"/>
                <a:ea typeface="Inter"/>
                <a:cs typeface="Inter"/>
                <a:sym typeface="Inter"/>
              </a:rPr>
              <a:t>Reduzir custos e deslocações desnecessárias; Melhorar a gestão dos stocks; Tornar o serviço mais rápido e eficiente</a:t>
            </a:r>
          </a:p>
          <a:p>
            <a:pPr algn="just">
              <a:lnSpc>
                <a:spcPts val="4037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52564" y="2596201"/>
            <a:ext cx="1531292" cy="437279"/>
          </a:xfrm>
          <a:custGeom>
            <a:avLst/>
            <a:gdLst/>
            <a:ahLst/>
            <a:cxnLst/>
            <a:rect r="r" b="b" t="t" l="l"/>
            <a:pathLst>
              <a:path h="437279" w="1531292">
                <a:moveTo>
                  <a:pt x="0" y="0"/>
                </a:moveTo>
                <a:lnTo>
                  <a:pt x="1531292" y="0"/>
                </a:lnTo>
                <a:lnTo>
                  <a:pt x="153129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8686" y="304873"/>
            <a:ext cx="1207759" cy="938959"/>
          </a:xfrm>
          <a:custGeom>
            <a:avLst/>
            <a:gdLst/>
            <a:ahLst/>
            <a:cxnLst/>
            <a:rect r="r" b="b" t="t" l="l"/>
            <a:pathLst>
              <a:path h="938959" w="1207759">
                <a:moveTo>
                  <a:pt x="0" y="0"/>
                </a:moveTo>
                <a:lnTo>
                  <a:pt x="1207759" y="0"/>
                </a:lnTo>
                <a:lnTo>
                  <a:pt x="1207759" y="938960"/>
                </a:lnTo>
                <a:lnTo>
                  <a:pt x="0" y="9389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431679" y="3040267"/>
            <a:ext cx="9424642" cy="6532604"/>
          </a:xfrm>
          <a:custGeom>
            <a:avLst/>
            <a:gdLst/>
            <a:ahLst/>
            <a:cxnLst/>
            <a:rect r="r" b="b" t="t" l="l"/>
            <a:pathLst>
              <a:path h="6532604" w="9424642">
                <a:moveTo>
                  <a:pt x="0" y="0"/>
                </a:moveTo>
                <a:lnTo>
                  <a:pt x="9424642" y="0"/>
                </a:lnTo>
                <a:lnTo>
                  <a:pt x="9424642" y="6532604"/>
                </a:lnTo>
                <a:lnTo>
                  <a:pt x="0" y="6532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09041" y="1291458"/>
            <a:ext cx="13669918" cy="857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7"/>
              </a:lnSpc>
            </a:pPr>
            <a:r>
              <a:rPr lang="en-US" b="true" sz="6000">
                <a:solidFill>
                  <a:srgbClr val="051838"/>
                </a:solidFill>
                <a:latin typeface="Roboto Bold"/>
                <a:ea typeface="Roboto Bold"/>
                <a:cs typeface="Roboto Bold"/>
                <a:sym typeface="Roboto Bold"/>
              </a:rPr>
              <a:t>ÂMBITO E PRIORIDADES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752564" y="2596201"/>
            <a:ext cx="1531292" cy="437279"/>
          </a:xfrm>
          <a:custGeom>
            <a:avLst/>
            <a:gdLst/>
            <a:ahLst/>
            <a:cxnLst/>
            <a:rect r="r" b="b" t="t" l="l"/>
            <a:pathLst>
              <a:path h="437279" w="1531292">
                <a:moveTo>
                  <a:pt x="0" y="0"/>
                </a:moveTo>
                <a:lnTo>
                  <a:pt x="1531292" y="0"/>
                </a:lnTo>
                <a:lnTo>
                  <a:pt x="153129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62071" y="1339083"/>
            <a:ext cx="8563857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b="true" sz="6000">
                <a:solidFill>
                  <a:srgbClr val="081F42"/>
                </a:solidFill>
                <a:latin typeface="Roboto Bold"/>
                <a:ea typeface="Roboto Bold"/>
                <a:cs typeface="Roboto Bold"/>
                <a:sym typeface="Roboto Bold"/>
              </a:rPr>
              <a:t>EXCLUSÕES E RISCOS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243838" y="3223654"/>
            <a:ext cx="4364182" cy="6686047"/>
            <a:chOff x="0" y="0"/>
            <a:chExt cx="5818909" cy="89147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729187" y="8049560"/>
              <a:ext cx="4360536" cy="306096"/>
            </a:xfrm>
            <a:custGeom>
              <a:avLst/>
              <a:gdLst/>
              <a:ahLst/>
              <a:cxnLst/>
              <a:rect r="r" b="b" t="t" l="l"/>
              <a:pathLst>
                <a:path h="306096" w="4360536">
                  <a:moveTo>
                    <a:pt x="0" y="0"/>
                  </a:moveTo>
                  <a:lnTo>
                    <a:pt x="4360535" y="0"/>
                  </a:lnTo>
                  <a:lnTo>
                    <a:pt x="4360535" y="306095"/>
                  </a:lnTo>
                  <a:lnTo>
                    <a:pt x="0" y="3060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421690"/>
              <a:ext cx="5818909" cy="8493039"/>
            </a:xfrm>
            <a:custGeom>
              <a:avLst/>
              <a:gdLst/>
              <a:ahLst/>
              <a:cxnLst/>
              <a:rect r="r" b="b" t="t" l="l"/>
              <a:pathLst>
                <a:path h="8493039" w="5818909">
                  <a:moveTo>
                    <a:pt x="0" y="0"/>
                  </a:moveTo>
                  <a:lnTo>
                    <a:pt x="5818909" y="0"/>
                  </a:lnTo>
                  <a:lnTo>
                    <a:pt x="5818909" y="8493039"/>
                  </a:lnTo>
                  <a:lnTo>
                    <a:pt x="0" y="8493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795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791680" y="1244258"/>
              <a:ext cx="4750594" cy="1666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en-US" sz="2250" spc="-67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Não substitui trabalho</a:t>
              </a:r>
            </a:p>
            <a:p>
              <a:pPr algn="l">
                <a:lnSpc>
                  <a:spcPts val="3375"/>
                </a:lnSpc>
              </a:pPr>
              <a:r>
                <a:rPr lang="en-US" sz="2250" spc="-67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físico de reposição, transporte e manutenção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791680" y="3884615"/>
              <a:ext cx="4750594" cy="1605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41"/>
                </a:lnSpc>
              </a:pPr>
              <a:r>
                <a:rPr lang="en-US" sz="2227" spc="-66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Não controla máquinas remotamente, só</a:t>
              </a:r>
            </a:p>
            <a:p>
              <a:pPr algn="l">
                <a:lnSpc>
                  <a:spcPts val="3341"/>
                </a:lnSpc>
              </a:pPr>
              <a:r>
                <a:rPr lang="en-US" sz="2227" spc="-66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monitoriza sensores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791680" y="6514182"/>
              <a:ext cx="4750594" cy="10948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en-US" sz="2250" spc="-67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Integração depende de acordos com parceiros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583349" y="3278583"/>
              <a:ext cx="4360536" cy="306096"/>
            </a:xfrm>
            <a:custGeom>
              <a:avLst/>
              <a:gdLst/>
              <a:ahLst/>
              <a:cxnLst/>
              <a:rect r="r" b="b" t="t" l="l"/>
              <a:pathLst>
                <a:path h="306096" w="4360536">
                  <a:moveTo>
                    <a:pt x="0" y="0"/>
                  </a:moveTo>
                  <a:lnTo>
                    <a:pt x="4360536" y="0"/>
                  </a:lnTo>
                  <a:lnTo>
                    <a:pt x="4360536" y="306096"/>
                  </a:lnTo>
                  <a:lnTo>
                    <a:pt x="0" y="306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583349" y="5858208"/>
              <a:ext cx="4360536" cy="291520"/>
            </a:xfrm>
            <a:custGeom>
              <a:avLst/>
              <a:gdLst/>
              <a:ahLst/>
              <a:cxnLst/>
              <a:rect r="r" b="b" t="t" l="l"/>
              <a:pathLst>
                <a:path h="291520" w="4360536">
                  <a:moveTo>
                    <a:pt x="0" y="0"/>
                  </a:moveTo>
                  <a:lnTo>
                    <a:pt x="4360536" y="0"/>
                  </a:lnTo>
                  <a:lnTo>
                    <a:pt x="4360536" y="291519"/>
                  </a:lnTo>
                  <a:lnTo>
                    <a:pt x="0" y="291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41586" y="-76200"/>
              <a:ext cx="4750594" cy="510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41"/>
                </a:lnSpc>
                <a:spcBef>
                  <a:spcPct val="0"/>
                </a:spcBef>
              </a:pPr>
              <a:r>
                <a:rPr lang="en-US" b="true" sz="2227" spc="-66" strike="noStrike" u="none">
                  <a:solidFill>
                    <a:srgbClr val="315B8B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EXCLUSÕES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283856" y="3033481"/>
            <a:ext cx="7985191" cy="6876220"/>
            <a:chOff x="0" y="0"/>
            <a:chExt cx="10646922" cy="916829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71120" cy="1166079"/>
            </a:xfrm>
            <a:custGeom>
              <a:avLst/>
              <a:gdLst/>
              <a:ahLst/>
              <a:cxnLst/>
              <a:rect r="r" b="b" t="t" l="l"/>
              <a:pathLst>
                <a:path h="1166079" w="10471120">
                  <a:moveTo>
                    <a:pt x="0" y="0"/>
                  </a:moveTo>
                  <a:lnTo>
                    <a:pt x="10471120" y="0"/>
                  </a:lnTo>
                  <a:lnTo>
                    <a:pt x="10471120" y="1166079"/>
                  </a:lnTo>
                  <a:lnTo>
                    <a:pt x="0" y="1166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859983"/>
              <a:ext cx="10471120" cy="8308310"/>
            </a:xfrm>
            <a:custGeom>
              <a:avLst/>
              <a:gdLst/>
              <a:ahLst/>
              <a:cxnLst/>
              <a:rect r="r" b="b" t="t" l="l"/>
              <a:pathLst>
                <a:path h="8308310" w="10471120">
                  <a:moveTo>
                    <a:pt x="0" y="0"/>
                  </a:moveTo>
                  <a:lnTo>
                    <a:pt x="10471120" y="0"/>
                  </a:lnTo>
                  <a:lnTo>
                    <a:pt x="10471120" y="8308310"/>
                  </a:lnTo>
                  <a:lnTo>
                    <a:pt x="0" y="8308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5864670" y="1304208"/>
              <a:ext cx="3165849" cy="7815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05"/>
                </a:lnSpc>
              </a:pPr>
              <a:r>
                <a:rPr lang="en-US" sz="1670" spc="-49">
                  <a:solidFill>
                    <a:srgbClr val="081F42"/>
                  </a:solidFill>
                  <a:latin typeface="Roboto"/>
                  <a:ea typeface="Roboto"/>
                  <a:cs typeface="Roboto"/>
                  <a:sym typeface="Roboto"/>
                </a:rPr>
                <a:t>Garantir infraestrutura e</a:t>
              </a:r>
            </a:p>
            <a:p>
              <a:pPr algn="l">
                <a:lnSpc>
                  <a:spcPts val="2505"/>
                </a:lnSpc>
              </a:pPr>
              <a:r>
                <a:rPr lang="en-US" sz="1670" spc="-49">
                  <a:solidFill>
                    <a:srgbClr val="081F42"/>
                  </a:solidFill>
                  <a:latin typeface="Roboto"/>
                  <a:ea typeface="Roboto"/>
                  <a:cs typeface="Roboto"/>
                  <a:sym typeface="Roboto"/>
                </a:rPr>
                <a:t>planos para interrupções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5864984" y="2589400"/>
              <a:ext cx="3134440" cy="7815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05"/>
                </a:lnSpc>
              </a:pPr>
              <a:r>
                <a:rPr lang="en-US" sz="1670" spc="-49">
                  <a:solidFill>
                    <a:srgbClr val="081F42"/>
                  </a:solidFill>
                  <a:latin typeface="Roboto"/>
                  <a:ea typeface="Roboto"/>
                  <a:cs typeface="Roboto"/>
                  <a:sym typeface="Roboto"/>
                </a:rPr>
                <a:t>Testar sensores e validar</a:t>
              </a:r>
            </a:p>
            <a:p>
              <a:pPr algn="l">
                <a:lnSpc>
                  <a:spcPts val="2505"/>
                </a:lnSpc>
              </a:pPr>
              <a:r>
                <a:rPr lang="en-US" sz="1670" spc="-49">
                  <a:solidFill>
                    <a:srgbClr val="081F42"/>
                  </a:solidFill>
                  <a:latin typeface="Roboto"/>
                  <a:ea typeface="Roboto"/>
                  <a:cs typeface="Roboto"/>
                  <a:sym typeface="Roboto"/>
                </a:rPr>
                <a:t>fiabilidade dos dados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619942" y="3874592"/>
              <a:ext cx="2572989" cy="7815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05"/>
                </a:lnSpc>
              </a:pPr>
              <a:r>
                <a:rPr lang="en-US" sz="1670" spc="-49">
                  <a:solidFill>
                    <a:srgbClr val="081F42"/>
                  </a:solidFill>
                  <a:latin typeface="Roboto"/>
                  <a:ea typeface="Roboto"/>
                  <a:cs typeface="Roboto"/>
                  <a:sym typeface="Roboto"/>
                </a:rPr>
                <a:t>Dados incorretos ou</a:t>
              </a:r>
            </a:p>
            <a:p>
              <a:pPr algn="l">
                <a:lnSpc>
                  <a:spcPts val="2505"/>
                </a:lnSpc>
              </a:pPr>
              <a:r>
                <a:rPr lang="en-US" sz="1670" spc="-49">
                  <a:solidFill>
                    <a:srgbClr val="081F42"/>
                  </a:solidFill>
                  <a:latin typeface="Roboto"/>
                  <a:ea typeface="Roboto"/>
                  <a:cs typeface="Roboto"/>
                  <a:sym typeface="Roboto"/>
                </a:rPr>
                <a:t>desatualizados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5861263" y="3874592"/>
              <a:ext cx="3506479" cy="7815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05"/>
                </a:lnSpc>
              </a:pPr>
              <a:r>
                <a:rPr lang="en-US" sz="1670" spc="-49">
                  <a:solidFill>
                    <a:srgbClr val="081F42"/>
                  </a:solidFill>
                  <a:latin typeface="Roboto"/>
                  <a:ea typeface="Roboto"/>
                  <a:cs typeface="Roboto"/>
                  <a:sym typeface="Roboto"/>
                </a:rPr>
                <a:t>Mecanismos de validação e</a:t>
              </a:r>
            </a:p>
            <a:p>
              <a:pPr algn="l">
                <a:lnSpc>
                  <a:spcPts val="2505"/>
                </a:lnSpc>
              </a:pPr>
              <a:r>
                <a:rPr lang="en-US" sz="1670" spc="-49">
                  <a:solidFill>
                    <a:srgbClr val="081F42"/>
                  </a:solidFill>
                  <a:latin typeface="Roboto"/>
                  <a:ea typeface="Roboto"/>
                  <a:cs typeface="Roboto"/>
                  <a:sym typeface="Roboto"/>
                </a:rPr>
                <a:t>atualização constante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619137" y="5240108"/>
              <a:ext cx="2653454" cy="7815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05"/>
                </a:lnSpc>
              </a:pPr>
              <a:r>
                <a:rPr lang="en-US" sz="1670" spc="-49">
                  <a:solidFill>
                    <a:srgbClr val="081F42"/>
                  </a:solidFill>
                  <a:latin typeface="Roboto"/>
                  <a:ea typeface="Roboto"/>
                  <a:cs typeface="Roboto"/>
                  <a:sym typeface="Roboto"/>
                </a:rPr>
                <a:t>Falta de colaboração</a:t>
              </a:r>
            </a:p>
            <a:p>
              <a:pPr algn="l">
                <a:lnSpc>
                  <a:spcPts val="2505"/>
                </a:lnSpc>
              </a:pPr>
              <a:r>
                <a:rPr lang="en-US" sz="1670" spc="-49">
                  <a:solidFill>
                    <a:srgbClr val="081F42"/>
                  </a:solidFill>
                  <a:latin typeface="Roboto"/>
                  <a:ea typeface="Roboto"/>
                  <a:cs typeface="Roboto"/>
                  <a:sym typeface="Roboto"/>
                </a:rPr>
                <a:t>dos parceiros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5867949" y="5240108"/>
              <a:ext cx="2837927" cy="7815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05"/>
                </a:lnSpc>
              </a:pPr>
              <a:r>
                <a:rPr lang="en-US" sz="1670" spc="-49">
                  <a:solidFill>
                    <a:srgbClr val="081F42"/>
                  </a:solidFill>
                  <a:latin typeface="Roboto"/>
                  <a:ea typeface="Roboto"/>
                  <a:cs typeface="Roboto"/>
                  <a:sym typeface="Roboto"/>
                </a:rPr>
                <a:t>Estabelecer acordos e</a:t>
              </a:r>
            </a:p>
            <a:p>
              <a:pPr algn="l">
                <a:lnSpc>
                  <a:spcPts val="2505"/>
                </a:lnSpc>
              </a:pPr>
              <a:r>
                <a:rPr lang="en-US" sz="1670" spc="-49">
                  <a:solidFill>
                    <a:srgbClr val="081F42"/>
                  </a:solidFill>
                  <a:latin typeface="Roboto"/>
                  <a:ea typeface="Roboto"/>
                  <a:cs typeface="Roboto"/>
                  <a:sym typeface="Roboto"/>
                </a:rPr>
                <a:t>regras de partilha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5858882" y="6706030"/>
              <a:ext cx="3744669" cy="376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05"/>
                </a:lnSpc>
              </a:pPr>
              <a:r>
                <a:rPr lang="en-US" sz="1670" spc="-49">
                  <a:solidFill>
                    <a:srgbClr val="081F42"/>
                  </a:solidFill>
                  <a:latin typeface="Roboto"/>
                  <a:ea typeface="Roboto"/>
                  <a:cs typeface="Roboto"/>
                  <a:sym typeface="Roboto"/>
                </a:rPr>
                <a:t>Formação e interface simples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5855469" y="7790411"/>
              <a:ext cx="4085882" cy="7815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05"/>
                </a:lnSpc>
              </a:pPr>
              <a:r>
                <a:rPr lang="en-US" sz="1670" spc="-49">
                  <a:solidFill>
                    <a:srgbClr val="081F42"/>
                  </a:solidFill>
                  <a:latin typeface="Roboto"/>
                  <a:ea typeface="Roboto"/>
                  <a:cs typeface="Roboto"/>
                  <a:sym typeface="Roboto"/>
                </a:rPr>
                <a:t>Uso de dados atualizados</a:t>
              </a:r>
            </a:p>
            <a:p>
              <a:pPr algn="l">
                <a:lnSpc>
                  <a:spcPts val="2505"/>
                </a:lnSpc>
              </a:pPr>
              <a:r>
                <a:rPr lang="en-US" sz="1670" spc="-49">
                  <a:solidFill>
                    <a:srgbClr val="081F42"/>
                  </a:solidFill>
                  <a:latin typeface="Roboto"/>
                  <a:ea typeface="Roboto"/>
                  <a:cs typeface="Roboto"/>
                  <a:sym typeface="Roboto"/>
                </a:rPr>
                <a:t>sobre máquinas e necessidades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607741" y="6706030"/>
              <a:ext cx="3793087" cy="376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05"/>
                </a:lnSpc>
              </a:pPr>
              <a:r>
                <a:rPr lang="en-US" sz="1670" spc="-49">
                  <a:solidFill>
                    <a:srgbClr val="081F42"/>
                  </a:solidFill>
                  <a:latin typeface="Roboto"/>
                  <a:ea typeface="Roboto"/>
                  <a:cs typeface="Roboto"/>
                  <a:sym typeface="Roboto"/>
                </a:rPr>
                <a:t>Resistência à nova plataforma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607161" y="2649644"/>
              <a:ext cx="3851062" cy="376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05"/>
                </a:lnSpc>
              </a:pPr>
              <a:r>
                <a:rPr lang="en-US" sz="1670" spc="-49">
                  <a:solidFill>
                    <a:srgbClr val="081F42"/>
                  </a:solidFill>
                  <a:latin typeface="Roboto"/>
                  <a:ea typeface="Roboto"/>
                  <a:cs typeface="Roboto"/>
                  <a:sym typeface="Roboto"/>
                </a:rPr>
                <a:t>Sensores incompatíveis/falhas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611593" y="1304208"/>
              <a:ext cx="3407881" cy="376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05"/>
                </a:lnSpc>
              </a:pPr>
              <a:r>
                <a:rPr lang="en-US" sz="1670" spc="-49">
                  <a:solidFill>
                    <a:srgbClr val="081F42"/>
                  </a:solidFill>
                  <a:latin typeface="Roboto"/>
                  <a:ea typeface="Roboto"/>
                  <a:cs typeface="Roboto"/>
                  <a:sym typeface="Roboto"/>
                </a:rPr>
                <a:t>Falhas na ligação à Internet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611722" y="7991222"/>
              <a:ext cx="3394951" cy="7815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05"/>
                </a:lnSpc>
              </a:pPr>
              <a:r>
                <a:rPr lang="en-US" sz="1670" spc="-49">
                  <a:solidFill>
                    <a:srgbClr val="081F42"/>
                  </a:solidFill>
                  <a:latin typeface="Roboto"/>
                  <a:ea typeface="Roboto"/>
                  <a:cs typeface="Roboto"/>
                  <a:sym typeface="Roboto"/>
                </a:rPr>
                <a:t>Dificuldades na otimização das rotas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5896328" y="345517"/>
              <a:ext cx="4750594" cy="510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41"/>
                </a:lnSpc>
              </a:pPr>
              <a:r>
                <a:rPr lang="en-US" b="true" sz="2227" spc="-66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MITIGAÇÃO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1865392" y="355042"/>
              <a:ext cx="1277784" cy="4437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23"/>
                </a:lnSpc>
              </a:pPr>
              <a:r>
                <a:rPr lang="en-US" b="true" sz="1949" spc="-58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RISCO</a:t>
              </a: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208686" y="304873"/>
            <a:ext cx="1207759" cy="938959"/>
          </a:xfrm>
          <a:custGeom>
            <a:avLst/>
            <a:gdLst/>
            <a:ahLst/>
            <a:cxnLst/>
            <a:rect r="r" b="b" t="t" l="l"/>
            <a:pathLst>
              <a:path h="938959" w="1207759">
                <a:moveTo>
                  <a:pt x="0" y="0"/>
                </a:moveTo>
                <a:lnTo>
                  <a:pt x="1207759" y="0"/>
                </a:lnTo>
                <a:lnTo>
                  <a:pt x="1207759" y="938960"/>
                </a:lnTo>
                <a:lnTo>
                  <a:pt x="0" y="9389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752564" y="2596201"/>
            <a:ext cx="1531292" cy="437279"/>
          </a:xfrm>
          <a:custGeom>
            <a:avLst/>
            <a:gdLst/>
            <a:ahLst/>
            <a:cxnLst/>
            <a:rect r="r" b="b" t="t" l="l"/>
            <a:pathLst>
              <a:path h="437279" w="1531292">
                <a:moveTo>
                  <a:pt x="0" y="0"/>
                </a:moveTo>
                <a:lnTo>
                  <a:pt x="1531292" y="0"/>
                </a:lnTo>
                <a:lnTo>
                  <a:pt x="153129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DAHX6LmCg7g</dc:identifier>
  <dcterms:modified xsi:type="dcterms:W3CDTF">2011-08-01T06:04:30Z</dcterms:modified>
  <cp:revision>1</cp:revision>
  <dc:title>Apresentação GOD’S EYE</dc:title>
</cp:coreProperties>
</file>